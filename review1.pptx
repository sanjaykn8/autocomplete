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70" r:id="rId10"/>
    <p:sldId id="273" r:id="rId11"/>
    <p:sldId id="263" r:id="rId12"/>
    <p:sldId id="274" r:id="rId13"/>
    <p:sldId id="271" r:id="rId14"/>
    <p:sldId id="275" r:id="rId15"/>
    <p:sldId id="277" r:id="rId16"/>
    <p:sldId id="278" r:id="rId17"/>
    <p:sldId id="265" r:id="rId18"/>
    <p:sldId id="266" r:id="rId19"/>
    <p:sldId id="267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88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22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REVIEW - 1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 level Auto-Complete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Next Word Prediction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80338"/>
            <a:ext cx="8229600" cy="79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Prabakaran K – 23bad111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Sanjay K N – 23bad115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Sukil Raj M S – 23bad121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28016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Efficiency Challenge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Typing large amounts of text is time-consuming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autocomplete ignores contextual meaning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systems only use dictionary matching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intelligent next-word prediction in simple editors </a:t>
            </a:r>
          </a:p>
          <a:p>
            <a:pPr marL="0" indent="0">
              <a:lnSpc>
                <a:spcPts val="2200"/>
              </a:lnSpc>
              <a:buNone/>
            </a:pP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Need: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NLP-based system that predicts the most probable next word based on the previous word using statistical language models.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NLP-Based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context-aware word auto-complete system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Approach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n-gram based prediction models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34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008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normalize textual data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26517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346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02920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next-word probabilities using frequency distribution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377440" y="3954780"/>
            <a:ext cx="438912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4091519"/>
            <a:ext cx="261257" cy="26125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017520" y="41376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2743200" y="443278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simple interface for real-time word suggestions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 Prediction Approaches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Language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n-Gram Model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Probability-based prediction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Frequency-based ranking</a:t>
            </a:r>
          </a:p>
          <a:p>
            <a:pPr marL="0" indent="0">
              <a:lnSpc>
                <a:spcPts val="2000"/>
              </a:lnSpc>
              <a:buNone/>
            </a:pP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Unigram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Bigram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Trigram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41148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188720"/>
            <a:ext cx="41148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Enhancement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POS-based filtering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Morphological analysis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Grammar-aware filtering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3623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8029B33-3127-A83C-CC5D-1D79D64A7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743"/>
          <a:stretch>
            <a:fillRect/>
          </a:stretch>
        </p:blipFill>
        <p:spPr>
          <a:xfrm>
            <a:off x="1090247" y="1101969"/>
            <a:ext cx="6728948" cy="3843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Modules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corpus loading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476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0370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Vocabulary creation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234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8731" y="110773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2344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1280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9177" y="1475450"/>
            <a:ext cx="2377440" cy="1153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Word frequency count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Bigram generation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Trigram generation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Probability calculation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9674" y="3262452"/>
            <a:ext cx="237744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Morphological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n-Gram Model implementation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 Tagging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Context-based next word prediction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7764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Engine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20440" y="3246120"/>
            <a:ext cx="237744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Takes previous word as input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Finds matching bigrams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Computes probability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Suggests top-k next words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858000" y="2971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400800" y="3150105"/>
            <a:ext cx="2377440" cy="898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input box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suggestion display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 2/Top 3 suggestions</a:t>
            </a:r>
            <a:endParaRPr 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921C6-CE92-C1D0-79D9-B91F7B4DB104}"/>
              </a:ext>
            </a:extLst>
          </p:cNvPr>
          <p:cNvSpPr txBox="1"/>
          <p:nvPr/>
        </p:nvSpPr>
        <p:spPr>
          <a:xfrm>
            <a:off x="3631660" y="1652360"/>
            <a:ext cx="21465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Tokenization</a:t>
            </a: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Lowercase conversion</a:t>
            </a: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StopWord</a:t>
            </a:r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removal</a:t>
            </a: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Lemmatization</a:t>
            </a:r>
          </a:p>
          <a:p>
            <a:r>
              <a:rPr lang="en-US" sz="1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Special character removal</a:t>
            </a:r>
            <a:endParaRPr lang="en-IN" sz="1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&amp; Technologies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72940"/>
              </p:ext>
            </p:extLst>
          </p:nvPr>
        </p:nvGraphicFramePr>
        <p:xfrm>
          <a:off x="1371600" y="1188720"/>
          <a:ext cx="6400800" cy="28003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Tools/Technologies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Programming Language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Python 3.10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NLP Libraries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NLTK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Data Processing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Pandas, NumPy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Language Modelling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 – Gram(Unigram, Bigram, Trigram)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Development IDE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Jupyter Notebook, VS Code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/>
                        <a:t>Dataset</a:t>
                      </a: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/>
                        <a:t>Shakespeare Dataset (Kaggle)</a:t>
                      </a:r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Information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9764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5120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77240" y="1516964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Used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Shakespeare Corpus: Dramatic plays containing dialogues, character speeches, and stage directions.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Literary / Classical English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7437F8-930C-D52D-084B-D7329BCFD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315043"/>
              </p:ext>
            </p:extLst>
          </p:nvPr>
        </p:nvGraphicFramePr>
        <p:xfrm>
          <a:off x="1363688" y="3117227"/>
          <a:ext cx="6774472" cy="155448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93618">
                  <a:extLst>
                    <a:ext uri="{9D8B030D-6E8A-4147-A177-3AD203B41FA5}">
                      <a16:colId xmlns:a16="http://schemas.microsoft.com/office/drawing/2014/main" val="3463762415"/>
                    </a:ext>
                  </a:extLst>
                </a:gridCol>
                <a:gridCol w="1693618">
                  <a:extLst>
                    <a:ext uri="{9D8B030D-6E8A-4147-A177-3AD203B41FA5}">
                      <a16:colId xmlns:a16="http://schemas.microsoft.com/office/drawing/2014/main" val="703162089"/>
                    </a:ext>
                  </a:extLst>
                </a:gridCol>
                <a:gridCol w="1693618">
                  <a:extLst>
                    <a:ext uri="{9D8B030D-6E8A-4147-A177-3AD203B41FA5}">
                      <a16:colId xmlns:a16="http://schemas.microsoft.com/office/drawing/2014/main" val="1593176012"/>
                    </a:ext>
                  </a:extLst>
                </a:gridCol>
                <a:gridCol w="1693618">
                  <a:extLst>
                    <a:ext uri="{9D8B030D-6E8A-4147-A177-3AD203B41FA5}">
                      <a16:colId xmlns:a16="http://schemas.microsoft.com/office/drawing/2014/main" val="2727187561"/>
                    </a:ext>
                  </a:extLst>
                </a:gridCol>
              </a:tblGrid>
              <a:tr h="285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 err="1"/>
                        <a:t>Avg</a:t>
                      </a:r>
                      <a:r>
                        <a:rPr lang="en-IN" sz="1400" dirty="0"/>
                        <a:t>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604493"/>
                  </a:ext>
                </a:extLst>
              </a:tr>
              <a:tr h="49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Shakespeare Plays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37 plays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~25,000 words per 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Literary Drama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7703446"/>
                  </a:ext>
                </a:extLst>
              </a:tr>
              <a:tr h="712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Shakespeare Dialogues (processed lines)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111396 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~5–20 words per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Dialogue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9457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E8C1A-E0A1-BD0F-EF76-89BBC1C26A62}"/>
              </a:ext>
            </a:extLst>
          </p:cNvPr>
          <p:cNvSpPr txBox="1"/>
          <p:nvPr/>
        </p:nvSpPr>
        <p:spPr>
          <a:xfrm>
            <a:off x="3204594" y="285226"/>
            <a:ext cx="3405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Module 1</a:t>
            </a:r>
          </a:p>
          <a:p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320CC-5BE0-9840-28D0-050A77C277CC}"/>
              </a:ext>
            </a:extLst>
          </p:cNvPr>
          <p:cNvSpPr txBox="1"/>
          <p:nvPr/>
        </p:nvSpPr>
        <p:spPr>
          <a:xfrm>
            <a:off x="486561" y="1239333"/>
            <a:ext cx="6778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Basic Text Processing operation on text document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Text Pre-processing -I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0223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13AED-5E9D-FCF3-1064-F02632C52F14}"/>
              </a:ext>
            </a:extLst>
          </p:cNvPr>
          <p:cNvSpPr txBox="1"/>
          <p:nvPr/>
        </p:nvSpPr>
        <p:spPr>
          <a:xfrm>
            <a:off x="2525086" y="553673"/>
            <a:ext cx="376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Module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D2219-1C93-CB9E-F957-AD6D21E50128}"/>
              </a:ext>
            </a:extLst>
          </p:cNvPr>
          <p:cNvSpPr txBox="1"/>
          <p:nvPr/>
        </p:nvSpPr>
        <p:spPr>
          <a:xfrm>
            <a:off x="621792" y="1572769"/>
            <a:ext cx="78657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Module 1 focuses on cleaning and preparing the Shakespeare dataset for building a statistical language model from scratch.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Since we are not using any pre-trained models, preprocessing plays a critical role in ensuring accurate probability calculations for next-word prediction.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402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 Pipeline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614243" y="1097280"/>
            <a:ext cx="3931920" cy="914400"/>
          </a:xfrm>
          <a:prstGeom prst="rect">
            <a:avLst/>
          </a:prstGeom>
          <a:solidFill>
            <a:srgbClr val="FFF9E6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7123" y="1234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Input: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"Betwixt my love and your high majesty"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97123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Tokenization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97123" y="2514600"/>
            <a:ext cx="3657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8563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[‘</a:t>
            </a: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Betwixt ‘,‘love’, ‘high’, ‘majesty’]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97123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Lowercase &amp; Cleaning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97123" y="3429000"/>
            <a:ext cx="3657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8563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[‘</a:t>
            </a: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Consolas" pitchFamily="34" charset="-122"/>
                <a:cs typeface="Arial" pitchFamily="34" charset="-120"/>
              </a:rPr>
              <a:t>b</a:t>
            </a: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etwixt ‘,‘love’, ‘high’, ‘majesty’]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97123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Lemmatization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97123" y="4343400"/>
            <a:ext cx="3657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8563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[‘betwixt’, ‘love’, ‘high', ‘</a:t>
            </a:r>
            <a:r>
              <a:rPr lang="en-US" sz="1100" i="1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majest</a:t>
            </a:r>
            <a:r>
              <a:rPr lang="en-US" sz="1100" i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’]</a:t>
            </a:r>
            <a:endParaRPr lang="en-US" sz="11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8B68EE-201B-8C8E-F997-9FABA07D9051}"/>
              </a:ext>
            </a:extLst>
          </p:cNvPr>
          <p:cNvSpPr txBox="1"/>
          <p:nvPr/>
        </p:nvSpPr>
        <p:spPr>
          <a:xfrm>
            <a:off x="2894202" y="453006"/>
            <a:ext cx="347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3181F-B778-F25E-5992-199AE8A62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143" y="1196043"/>
            <a:ext cx="6441979" cy="17054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AE5BD9-4056-EF0B-66B6-AAD29B6FC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83" y="3162883"/>
            <a:ext cx="6357840" cy="1705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1796D-434A-3B7C-0FFE-DF86DA089B47}"/>
              </a:ext>
            </a:extLst>
          </p:cNvPr>
          <p:cNvSpPr txBox="1"/>
          <p:nvPr/>
        </p:nvSpPr>
        <p:spPr>
          <a:xfrm>
            <a:off x="115833" y="1791388"/>
            <a:ext cx="347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Stemmed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D8F2E-3F0A-E303-213D-C72BDE3B9452}"/>
              </a:ext>
            </a:extLst>
          </p:cNvPr>
          <p:cNvSpPr txBox="1"/>
          <p:nvPr/>
        </p:nvSpPr>
        <p:spPr>
          <a:xfrm>
            <a:off x="115833" y="3655069"/>
            <a:ext cx="347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Lemmatized</a:t>
            </a:r>
          </a:p>
        </p:txBody>
      </p:sp>
    </p:spTree>
    <p:extLst>
      <p:ext uri="{BB962C8B-B14F-4D97-AF65-F5344CB8AC3E}">
        <p14:creationId xmlns:p14="http://schemas.microsoft.com/office/powerpoint/2010/main" val="253882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DC233A-3FF6-8B3A-D9AB-E1AFE240FB18}"/>
              </a:ext>
            </a:extLst>
          </p:cNvPr>
          <p:cNvSpPr txBox="1"/>
          <p:nvPr/>
        </p:nvSpPr>
        <p:spPr>
          <a:xfrm>
            <a:off x="1677798" y="545284"/>
            <a:ext cx="5108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Module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A26EA-32DB-5D71-4280-1BDB0A9D005A}"/>
              </a:ext>
            </a:extLst>
          </p:cNvPr>
          <p:cNvSpPr txBox="1"/>
          <p:nvPr/>
        </p:nvSpPr>
        <p:spPr>
          <a:xfrm>
            <a:off x="503339" y="1610686"/>
            <a:ext cx="64846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Morphological Analysis 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Explore Language Models - n-Gram model</a:t>
            </a:r>
          </a:p>
          <a:p>
            <a:r>
              <a:rPr lang="en-GB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POS tagging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5896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1A5A-96E6-C35B-B847-0DEE5BB20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079ADC-6547-DF6E-D3E4-290F82476C8C}"/>
              </a:ext>
            </a:extLst>
          </p:cNvPr>
          <p:cNvSpPr txBox="1"/>
          <p:nvPr/>
        </p:nvSpPr>
        <p:spPr>
          <a:xfrm>
            <a:off x="2525086" y="553673"/>
            <a:ext cx="376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Module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671D6-EC57-9B4F-44A9-9082F2CECBAE}"/>
              </a:ext>
            </a:extLst>
          </p:cNvPr>
          <p:cNvSpPr txBox="1"/>
          <p:nvPr/>
        </p:nvSpPr>
        <p:spPr>
          <a:xfrm>
            <a:off x="243840" y="1692121"/>
            <a:ext cx="890016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Module 2 focuses on understanding the structure of words and building a statistical language model to predict the next word based on the previous word.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module improves prediction accuracy by analyzing word forms and contextual probabilities using n-gram techniques.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22516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E3D5-4B42-F028-8AC5-4ACC3D95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3B69B-4A48-66B0-1CBF-BAA6D4B712CC}"/>
              </a:ext>
            </a:extLst>
          </p:cNvPr>
          <p:cNvSpPr txBox="1"/>
          <p:nvPr/>
        </p:nvSpPr>
        <p:spPr>
          <a:xfrm>
            <a:off x="2894202" y="453006"/>
            <a:ext cx="347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C26B5-CA29-9C7F-D9EE-7042482B9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20" y="1331954"/>
            <a:ext cx="3678060" cy="1239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B95E8-CC9B-B896-2421-F6D232D3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629" y="1331954"/>
            <a:ext cx="4382112" cy="1600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3CD539-38B3-DADC-F73F-34C2AD1A1ADC}"/>
              </a:ext>
            </a:extLst>
          </p:cNvPr>
          <p:cNvSpPr txBox="1"/>
          <p:nvPr/>
        </p:nvSpPr>
        <p:spPr>
          <a:xfrm>
            <a:off x="965756" y="2939906"/>
            <a:ext cx="347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Comparision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9A297-70D9-2916-9D48-CA6AD13111DB}"/>
              </a:ext>
            </a:extLst>
          </p:cNvPr>
          <p:cNvSpPr txBox="1"/>
          <p:nvPr/>
        </p:nvSpPr>
        <p:spPr>
          <a:xfrm>
            <a:off x="4828509" y="3052371"/>
            <a:ext cx="347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POS tagging</a:t>
            </a:r>
          </a:p>
        </p:txBody>
      </p:sp>
    </p:spTree>
    <p:extLst>
      <p:ext uri="{BB962C8B-B14F-4D97-AF65-F5344CB8AC3E}">
        <p14:creationId xmlns:p14="http://schemas.microsoft.com/office/powerpoint/2010/main" val="293397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75F7-DF70-A033-8F25-491BA902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9BB85-9D8F-4B7F-59F4-8E7A40DBDA71}"/>
              </a:ext>
            </a:extLst>
          </p:cNvPr>
          <p:cNvSpPr txBox="1"/>
          <p:nvPr/>
        </p:nvSpPr>
        <p:spPr>
          <a:xfrm>
            <a:off x="2894202" y="453006"/>
            <a:ext cx="3473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Screenshots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20E44-DBA4-A5E6-EA4E-73580BD7F2A4}"/>
              </a:ext>
            </a:extLst>
          </p:cNvPr>
          <p:cNvSpPr txBox="1"/>
          <p:nvPr/>
        </p:nvSpPr>
        <p:spPr>
          <a:xfrm>
            <a:off x="696125" y="2846121"/>
            <a:ext cx="347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0793C-225D-3736-392D-9855DD89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42" y="1391721"/>
            <a:ext cx="3100323" cy="357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71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Outcomes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3716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next-word prediction system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0116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Bigram accuracy &gt; 60% (depending on dataset)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517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6517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typing effort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9184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suggestions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93192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39319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modular code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288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Improvements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343912"/>
            <a:ext cx="2377440" cy="1999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higher-order n-gram models (4-gram / 5-gram)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smoothing techniques (Laplace smoothing)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Trie data structure for faster word lookup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real-time prediction speed</a:t>
            </a:r>
          </a:p>
        </p:txBody>
      </p:sp>
      <p:sp>
        <p:nvSpPr>
          <p:cNvPr id="10" name="Shape 7"/>
          <p:cNvSpPr/>
          <p:nvPr/>
        </p:nvSpPr>
        <p:spPr>
          <a:xfrm>
            <a:off x="3337560" y="18288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828800"/>
            <a:ext cx="27432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Improvements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520440" y="2269237"/>
            <a:ext cx="2377440" cy="2045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to LSTM / GRU-based language models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transformer-based models such as GPT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statistical and neural approaches (Hybrid model)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contextual prediction accuracy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82880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828800"/>
            <a:ext cx="274320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Improvements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0" y="2343912"/>
            <a:ext cx="2377440" cy="1825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user-personalized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web-based interface for real-time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multi-language prediction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voice-based auto-completion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implements a statistical NLP-based word auto-completion system built from scratch using preprocessing and n-gram language modeling. In Review 1, the core prediction engine and text processing modules have been successfully developed, forming the foundation for future enhancements.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Word Auto Completion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714</Words>
  <Application>Microsoft Office PowerPoint</Application>
  <PresentationFormat>On-screen Show (16:9)</PresentationFormat>
  <Paragraphs>184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Summarization - Mini Project Review 1</dc:title>
  <dc:subject>PptxGenJS Presentation</dc:subject>
  <dc:creator>NLP Project Team</dc:creator>
  <cp:lastModifiedBy>Sanjay KN</cp:lastModifiedBy>
  <cp:revision>16</cp:revision>
  <dcterms:created xsi:type="dcterms:W3CDTF">2026-02-13T08:41:06Z</dcterms:created>
  <dcterms:modified xsi:type="dcterms:W3CDTF">2026-02-23T05:54:14Z</dcterms:modified>
</cp:coreProperties>
</file>